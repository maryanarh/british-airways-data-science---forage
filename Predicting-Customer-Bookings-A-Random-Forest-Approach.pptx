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Bitter Medium" panose="020B0604020202020204" charset="0"/>
      <p:regular r:id="rId10"/>
    </p:embeddedFont>
    <p:embeddedFont>
      <p:font typeface="Open Sans" panose="020B0604020202020204" charset="0"/>
      <p:regular r:id="rId11"/>
    </p:embeddedFont>
    <p:embeddedFont>
      <p:font typeface="Open Sans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89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439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0" spc="-73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Predicting Customer Bookings: A Random Forest Approach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59966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Turning </a:t>
            </a:r>
            <a:r>
              <a:rPr lang="en-US" sz="950" b="1" kern="0" spc="-2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50,000 customer searches</a:t>
            </a:r>
            <a:r>
              <a:rPr lang="en-US" sz="950" kern="0" spc="-2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into a model that flags who's likely to book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458441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4855" y="1626691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1894954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50,000 flight-booking searches, 14 features, zero missing values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3987" y="1497955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2723" y="1626691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Conversion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723" y="1894954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</a:t>
            </a:r>
            <a:r>
              <a:rPr lang="en-US" sz="950" b="1" kern="0" spc="-2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14.96%</a:t>
            </a:r>
            <a:r>
              <a:rPr lang="en-US" sz="950" kern="0" spc="-2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searches result in a completed booking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2346127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855" y="2474863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4855" y="2743126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 with 500 trees, tuned for high recall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3987" y="2346127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2723" y="2474863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Result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723" y="2743126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ROC-AUC </a:t>
            </a:r>
            <a:r>
              <a:rPr lang="en-US" sz="950" b="1" kern="0" spc="-2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0.79</a:t>
            </a:r>
            <a:r>
              <a:rPr lang="en-US" sz="950" kern="0" spc="-2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flags 68% of true bookers on held-out 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6822" y="3209851"/>
            <a:ext cx="4103191" cy="1409179"/>
          </a:xfrm>
          <a:prstGeom prst="roundRect">
            <a:avLst>
              <a:gd name="adj" fmla="val 6338"/>
            </a:avLst>
          </a:prstGeom>
          <a:solidFill>
            <a:srgbClr val="1A3A52"/>
          </a:solidFill>
          <a:ln/>
        </p:spPr>
      </p:sp>
      <p:sp>
        <p:nvSpPr>
          <p:cNvPr id="17" name="Text 15"/>
          <p:cNvSpPr/>
          <p:nvPr/>
        </p:nvSpPr>
        <p:spPr>
          <a:xfrm>
            <a:off x="530796" y="3333824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7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Purpose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796" y="3651647"/>
            <a:ext cx="385524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2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business challenge: most customers who search do not book. This project builds a predictive model to identify high-propensity customers so marketing and operations teams can prioritize outreach, offers, and capacity planning more effectively.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28046" y="3333824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7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Approach at a Glance</a:t>
            </a:r>
            <a:endParaRPr lang="en-US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A5C45C0-6B1E-09F0-379F-AEB0C6CFF977}"/>
              </a:ext>
            </a:extLst>
          </p:cNvPr>
          <p:cNvGrpSpPr/>
          <p:nvPr/>
        </p:nvGrpSpPr>
        <p:grpSpPr>
          <a:xfrm>
            <a:off x="4728046" y="3651647"/>
            <a:ext cx="4377036" cy="1491853"/>
            <a:chOff x="4728046" y="3651647"/>
            <a:chExt cx="4377036" cy="1491853"/>
          </a:xfrm>
        </p:grpSpPr>
        <p:sp>
          <p:nvSpPr>
            <p:cNvPr id="20" name="Text 18"/>
            <p:cNvSpPr/>
            <p:nvPr/>
          </p:nvSpPr>
          <p:spPr>
            <a:xfrm>
              <a:off x="4728046" y="3651647"/>
              <a:ext cx="3924598" cy="923999"/>
            </a:xfrm>
            <a:prstGeom prst="rect">
              <a:avLst/>
            </a:prstGeom>
            <a:noFill/>
            <a:ln/>
          </p:spPr>
          <p:txBody>
            <a:bodyPr wrap="square" lIns="0" tIns="49619" rIns="0" bIns="0" rtlCol="0" anchor="t">
              <a:normAutofit/>
            </a:bodyPr>
            <a:lstStyle/>
            <a:p>
              <a:pPr marL="193040" indent="-193040" algn="l">
                <a:lnSpc>
                  <a:spcPct val="133000"/>
                </a:lnSpc>
                <a:buSzPct val="100000"/>
                <a:buChar char="•"/>
              </a:pPr>
              <a:r>
                <a:rPr lang="en-US" sz="950" kern="0" spc="-20" dirty="0">
                  <a:solidFill>
                    <a:srgbClr val="2B2E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Exploratory analysis of 14 raw features plus engineered signals</a:t>
              </a:r>
              <a:endParaRPr lang="en-US" sz="950" dirty="0"/>
            </a:p>
            <a:p>
              <a:pPr marL="193040" indent="-193040" algn="l">
                <a:lnSpc>
                  <a:spcPct val="133000"/>
                </a:lnSpc>
                <a:buSzPct val="100000"/>
                <a:buChar char="•"/>
              </a:pPr>
              <a:r>
                <a:rPr lang="en-US" sz="950" kern="0" spc="-20" dirty="0">
                  <a:solidFill>
                    <a:srgbClr val="2B2E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Stratified 80/20 train/test split to preserve class balance</a:t>
              </a:r>
              <a:endParaRPr lang="en-US" sz="950" dirty="0"/>
            </a:p>
            <a:p>
              <a:pPr marL="193040" indent="-193040" algn="l">
                <a:lnSpc>
                  <a:spcPct val="133000"/>
                </a:lnSpc>
                <a:buSzPct val="100000"/>
                <a:buChar char="•"/>
              </a:pPr>
              <a:r>
                <a:rPr lang="en-US" sz="950" kern="0" spc="-20" dirty="0">
                  <a:solidFill>
                    <a:srgbClr val="2B2E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5-fold cross-validation for robust evaluation</a:t>
              </a:r>
              <a:endParaRPr lang="en-US" sz="950" dirty="0"/>
            </a:p>
            <a:p>
              <a:pPr marL="193040" indent="-193040" algn="l">
                <a:lnSpc>
                  <a:spcPct val="133000"/>
                </a:lnSpc>
                <a:buSzPct val="100000"/>
                <a:buChar char="•"/>
              </a:pPr>
              <a:r>
                <a:rPr lang="en-US" sz="950" kern="0" spc="-20" dirty="0">
                  <a:solidFill>
                    <a:srgbClr val="2B2E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Feature importance analysis to surface actionable drivers</a:t>
              </a:r>
              <a:endParaRPr lang="en-US" sz="95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C781DC9-3A21-F891-735D-10E82052012A}"/>
                </a:ext>
              </a:extLst>
            </p:cNvPr>
            <p:cNvSpPr/>
            <p:nvPr/>
          </p:nvSpPr>
          <p:spPr>
            <a:xfrm>
              <a:off x="7854215" y="4726004"/>
              <a:ext cx="1250867" cy="417496"/>
            </a:xfrm>
            <a:prstGeom prst="rect">
              <a:avLst/>
            </a:prstGeom>
            <a:solidFill>
              <a:srgbClr val="FFF8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636" y="282971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7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The Data &amp; The Prediction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90240" y="553962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18" dirty="0">
                <a:solidFill>
                  <a:srgbClr val="FF0000"/>
                </a:solidFill>
                <a:highlight>
                  <a:srgbClr val="FFFF00"/>
                </a:highlight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Overview</a:t>
            </a:r>
            <a:endParaRPr lang="en-US" sz="1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" name="Text 2"/>
          <p:cNvSpPr/>
          <p:nvPr/>
        </p:nvSpPr>
        <p:spPr>
          <a:xfrm>
            <a:off x="390241" y="1056108"/>
            <a:ext cx="4000277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-1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50,000 customer flight-booking searches</a:t>
            </a:r>
            <a:r>
              <a:rPr lang="en-US" sz="1000" kern="0" spc="-1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14 original features: passengers, sales channel, trip type, purchase lead time, length of stay, flight timing, route, booking origin, requested extras, and flight duration. No missing values were found — the dataset is clean and complete.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05" y="973113"/>
            <a:ext cx="77465" cy="619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5824" y="793451"/>
            <a:ext cx="4194051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-1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 accuracy is a misleading metric here. A model that predicts "no booking" every time would still be correct 85% of the time.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0241" y="1914909"/>
            <a:ext cx="4000277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0" spc="-1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</a:t>
            </a:r>
            <a:r>
              <a:rPr lang="en-US" sz="1000" b="1" kern="0" spc="-1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14.96%</a:t>
            </a:r>
            <a:r>
              <a:rPr lang="en-US" sz="1000" kern="0" spc="-1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searches convert into a completed booking. This severe class imbalance means standard accuracy metrics are uninformative. The model must be evaluated on precision, recall, and ROC-AUC instead.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53506"/>
            <a:ext cx="3282215" cy="154331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6119" y="2558802"/>
            <a:ext cx="8151763" cy="9525"/>
          </a:xfrm>
          <a:prstGeom prst="roundRect">
            <a:avLst>
              <a:gd name="adj" fmla="val 50000"/>
            </a:avLst>
          </a:prstGeom>
          <a:solidFill>
            <a:srgbClr val="2B2E3C">
              <a:alpha val="5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496119" y="2773710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spc="-1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Completion rate ranges from </a:t>
            </a:r>
            <a:r>
              <a:rPr lang="en-US" sz="900" b="1" kern="0" spc="-1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~5% (Australia, New Zealand)</a:t>
            </a:r>
            <a:r>
              <a:rPr lang="en-US" sz="900" kern="0" spc="-1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</a:t>
            </a:r>
            <a:r>
              <a:rPr lang="en-US" sz="900" b="1" kern="0" spc="-1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~34% (Malaysia)</a:t>
            </a:r>
            <a:r>
              <a:rPr lang="en-US" sz="900" kern="0" spc="-1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Critically, Australia is the single largest source of searches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kern="0" spc="-1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 </a:t>
            </a:r>
            <a:r>
              <a:rPr lang="en-US" sz="900" b="1" kern="0" spc="-1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36% of all data</a:t>
            </a:r>
            <a:r>
              <a:rPr lang="en-US" sz="900" kern="0" spc="-1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meaning the market with the lowest conversion dominates the dataset.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240" y="3117082"/>
            <a:ext cx="6179116" cy="188559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16B115F-E2E2-4CA5-FA71-2C77C82D59E7}"/>
              </a:ext>
            </a:extLst>
          </p:cNvPr>
          <p:cNvGrpSpPr/>
          <p:nvPr/>
        </p:nvGrpSpPr>
        <p:grpSpPr>
          <a:xfrm>
            <a:off x="496118" y="2647535"/>
            <a:ext cx="8608964" cy="2495965"/>
            <a:chOff x="496118" y="2647535"/>
            <a:chExt cx="8608964" cy="2495965"/>
          </a:xfrm>
        </p:grpSpPr>
        <p:sp>
          <p:nvSpPr>
            <p:cNvPr id="12" name="Text 8"/>
            <p:cNvSpPr/>
            <p:nvPr/>
          </p:nvSpPr>
          <p:spPr>
            <a:xfrm>
              <a:off x="496118" y="2647535"/>
              <a:ext cx="8151763" cy="968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000" kern="0" spc="-18" dirty="0">
                  <a:solidFill>
                    <a:srgbClr val="FF0000"/>
                  </a:solidFill>
                  <a:highlight>
                    <a:srgbClr val="FFFF00"/>
                  </a:highlight>
                  <a:latin typeface="Bitter Medium" pitchFamily="34" charset="0"/>
                  <a:ea typeface="Bitter Medium" pitchFamily="34" charset="-122"/>
                  <a:cs typeface="Bitter Medium" pitchFamily="34" charset="-120"/>
                </a:rPr>
                <a:t>Geographic Variation in Conversion Rate</a:t>
              </a:r>
              <a:endParaRPr lang="en-US" sz="1000" dirty="0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D174E36-FE83-6469-E07A-14827C23CD87}"/>
                </a:ext>
              </a:extLst>
            </p:cNvPr>
            <p:cNvSpPr/>
            <p:nvPr/>
          </p:nvSpPr>
          <p:spPr>
            <a:xfrm>
              <a:off x="7854215" y="4726004"/>
              <a:ext cx="1250867" cy="417496"/>
            </a:xfrm>
            <a:prstGeom prst="rect">
              <a:avLst/>
            </a:prstGeom>
            <a:solidFill>
              <a:srgbClr val="FFF8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6518"/>
            <a:ext cx="8151763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kern="0" spc="-62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Preparing the Data: Feature Engineering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04280"/>
            <a:ext cx="394826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31" dirty="0">
                <a:solidFill>
                  <a:srgbClr val="FF0000"/>
                </a:solidFill>
                <a:highlight>
                  <a:srgbClr val="FFFF00"/>
                </a:highlight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Handling Skewed Distributions</a:t>
            </a:r>
            <a:endParaRPr lang="en-US" sz="1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156022"/>
            <a:ext cx="3948261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b="1" kern="0" spc="-16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purchase_lead</a:t>
            </a:r>
            <a:r>
              <a:rPr lang="en-US" sz="1000" kern="0" spc="-1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1000" b="1" kern="0" spc="-16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length_of_stay</a:t>
            </a:r>
            <a:r>
              <a:rPr lang="en-US" sz="1000" kern="0" spc="-1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 right-skewed with extreme outliers — up to 867 and 778 days respectively. However, no scaling or transformations were applied: tree-based models like Random Forest are invariant to monotonic feature transforms and handle skewed data natively.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37739"/>
            <a:ext cx="3948261" cy="26091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4383" y="471143"/>
            <a:ext cx="394826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31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Engineered Features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4383" y="733973"/>
            <a:ext cx="3948261" cy="7983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80446" y="852887"/>
            <a:ext cx="365328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31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flight_day_numeric &amp; is_weekend_flight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880446" y="1104630"/>
            <a:ext cx="3653284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kern="0" spc="-1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Derived from flight day of the week to capture timing patterns and weekend travel behavior.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4383" y="1620617"/>
            <a:ext cx="3948261" cy="7983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80446" y="1739530"/>
            <a:ext cx="365328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31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route_origin_airport / route_destination_airport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880446" y="1991273"/>
            <a:ext cx="3653284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kern="0" spc="-1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Decomposed from 799 unique route values to expose airport-level signal more cleanly.</a:t>
            </a:r>
            <a:endParaRPr lang="en-US" sz="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4383" y="2507260"/>
            <a:ext cx="3948261" cy="7983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80446" y="2626174"/>
            <a:ext cx="365328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31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total_extras_requested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4880446" y="2877917"/>
            <a:ext cx="3653284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kern="0" spc="-1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Aggregate sum of baggage, seat, and meal requests — a single composite engagement signal.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4704383" y="3404992"/>
            <a:ext cx="394826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31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Encoding Strategy &amp; Leakage Prevention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704383" y="3656734"/>
            <a:ext cx="3948261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kern="0" spc="-1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High-cardinality categoricals — route, booking origin, and airport codes — are </a:t>
            </a:r>
            <a:r>
              <a:rPr lang="en-US" sz="1000" b="1" kern="0" spc="-16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frequency-encoded</a:t>
            </a:r>
            <a:r>
              <a:rPr lang="en-US" sz="1000" kern="0" spc="-1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rather than one-hot encoded, keeping the feature space manageable. Critically, all encoders are </a:t>
            </a:r>
            <a:r>
              <a:rPr lang="en-US" sz="1000" b="1" kern="0" spc="-16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fit only on training data</a:t>
            </a:r>
            <a:r>
              <a:rPr lang="en-US" sz="1000" kern="0" spc="-1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inside a pipeline, preventing any information from the test set from leaking into model training.</a:t>
            </a:r>
            <a:endParaRPr lang="en-US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4AFC1C-1AEC-5738-040F-5FC05D7C1F02}"/>
              </a:ext>
            </a:extLst>
          </p:cNvPr>
          <p:cNvSpPr/>
          <p:nvPr/>
        </p:nvSpPr>
        <p:spPr>
          <a:xfrm>
            <a:off x="7854215" y="4726004"/>
            <a:ext cx="1250867" cy="417496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2379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kern="0" spc="-64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Training a Random Forest Model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719510"/>
            <a:ext cx="8151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32" dirty="0">
                <a:solidFill>
                  <a:srgbClr val="FF0000"/>
                </a:solidFill>
                <a:highlight>
                  <a:srgbClr val="FFFF00"/>
                </a:highlight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Why Random Forest?</a:t>
            </a:r>
            <a:endParaRPr lang="en-US" sz="105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031453"/>
            <a:ext cx="2653903" cy="941412"/>
          </a:xfrm>
          <a:prstGeom prst="roundRect">
            <a:avLst>
              <a:gd name="adj" fmla="val 484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377" y="1144712"/>
            <a:ext cx="242738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32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Non-linear Relationships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377" y="1371154"/>
            <a:ext cx="2427387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Captures complex interactions between variables automatically — no manual feature crosses required.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4974" y="1031453"/>
            <a:ext cx="2653978" cy="941412"/>
          </a:xfrm>
          <a:prstGeom prst="roundRect">
            <a:avLst>
              <a:gd name="adj" fmla="val 484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8232" y="1144712"/>
            <a:ext cx="2427461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32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Robust to Skew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58232" y="1371154"/>
            <a:ext cx="2427461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Handles skewed, unscaled features without preprocessing — ideal for </a:t>
            </a:r>
            <a:r>
              <a:rPr lang="en-US" sz="900" b="1" kern="0" spc="-17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purchase_lead</a:t>
            </a: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900" b="1" kern="0" spc="-17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length_of_stay</a:t>
            </a: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93904" y="1031453"/>
            <a:ext cx="2653978" cy="941412"/>
          </a:xfrm>
          <a:prstGeom prst="roundRect">
            <a:avLst>
              <a:gd name="adj" fmla="val 484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07162" y="1144712"/>
            <a:ext cx="2427461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32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Interpretability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07162" y="1371154"/>
            <a:ext cx="2427461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Outputs </a:t>
            </a:r>
            <a:r>
              <a:rPr lang="en-US" sz="900" b="1" kern="0" spc="-17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feature_importances_</a:t>
            </a: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directly, giving clean insight into which signals drive predictions.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6119" y="2106737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2B2E3C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17984" y="2254895"/>
            <a:ext cx="4099768" cy="2546152"/>
          </a:xfrm>
          <a:prstGeom prst="roundRect">
            <a:avLst>
              <a:gd name="adj" fmla="val 3069"/>
            </a:avLst>
          </a:prstGeom>
          <a:solidFill>
            <a:srgbClr val="1A3A52"/>
          </a:solidFill>
          <a:ln/>
        </p:spPr>
      </p:sp>
      <p:sp>
        <p:nvSpPr>
          <p:cNvPr id="15" name="Text 13"/>
          <p:cNvSpPr/>
          <p:nvPr/>
        </p:nvSpPr>
        <p:spPr>
          <a:xfrm>
            <a:off x="526479" y="2349847"/>
            <a:ext cx="388277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32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Split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6479" y="2614315"/>
            <a:ext cx="3882777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650"/>
              </a:spcAft>
              <a:buNone/>
            </a:pPr>
            <a:r>
              <a:rPr lang="en-US" sz="850" b="1" kern="0" spc="-17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80/20 stratified train/test split</a:t>
            </a:r>
            <a:endParaRPr lang="en-US" sz="8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50" kern="0" spc="-17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40,000 searches for training — 10,000 held out for final evaluation. Stratification ensures the 85/15 class ratio is preserved in both sets.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09145" y="2349847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32" dirty="0">
                <a:solidFill>
                  <a:srgbClr val="FF0000"/>
                </a:solidFill>
                <a:highlight>
                  <a:srgbClr val="FFFF00"/>
                </a:highlight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Final Hyperparameters</a:t>
            </a:r>
            <a:endParaRPr lang="en-US" sz="105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09145" y="2626147"/>
            <a:ext cx="3943499" cy="1657052"/>
          </a:xfrm>
          <a:prstGeom prst="roundRect">
            <a:avLst>
              <a:gd name="adj" fmla="val 275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45" y="2919487"/>
            <a:ext cx="3943499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45" y="3373264"/>
            <a:ext cx="3943499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45" y="3827041"/>
            <a:ext cx="3943499" cy="67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22850" y="2692598"/>
            <a:ext cx="1551236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b="1" kern="0" spc="-17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Parameter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33877" y="2692598"/>
            <a:ext cx="1551236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b="1" kern="0" spc="-17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Value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444904" y="2692598"/>
            <a:ext cx="1551236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b="1" kern="0" spc="-17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Rationale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22850" y="2983557"/>
            <a:ext cx="1551236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n_estimators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33877" y="2983557"/>
            <a:ext cx="1551236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500 trees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44904" y="2983557"/>
            <a:ext cx="1094036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 variance reduction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22850" y="3437334"/>
            <a:ext cx="1551236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max_depth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33877" y="3437334"/>
            <a:ext cx="1551236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44904" y="3437334"/>
            <a:ext cx="1094036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Selected via cross-validation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2850" y="3891111"/>
            <a:ext cx="1551236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class_weight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33877" y="3891111"/>
            <a:ext cx="1551236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"balanced"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44904" y="3891111"/>
            <a:ext cx="1094036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Corrects 85/15 imbalance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41567" y="4451972"/>
            <a:ext cx="3943499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Balanced vs. unweighted models and multiple tree depths were compared via cross-validation before settling on these values.</a:t>
            </a:r>
            <a:endParaRPr lang="en-US" sz="9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721669-62DC-3357-2A97-759BB8714310}"/>
              </a:ext>
            </a:extLst>
          </p:cNvPr>
          <p:cNvSpPr/>
          <p:nvPr/>
        </p:nvSpPr>
        <p:spPr>
          <a:xfrm>
            <a:off x="7854215" y="4726004"/>
            <a:ext cx="1250867" cy="417496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5671"/>
            <a:ext cx="8151763" cy="2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0" spc="-45" dirty="0">
                <a:highlight>
                  <a:srgbClr val="FFF8F0"/>
                </a:highlight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Evaluating the Model</a:t>
            </a:r>
            <a:endParaRPr lang="en-US" sz="2000" dirty="0">
              <a:highlight>
                <a:srgbClr val="FFF8F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731788"/>
            <a:ext cx="4047083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950" kern="0" spc="-59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0.79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96119" y="1053480"/>
            <a:ext cx="4047083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kern="0" spc="-22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ROC-AUC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6119" y="1199183"/>
            <a:ext cx="4047083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800" kern="0" spc="-12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Held-out test set (10,000 unseen searches)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00724" y="731788"/>
            <a:ext cx="404715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950" kern="0" spc="-59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68%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600724" y="1053480"/>
            <a:ext cx="4047158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kern="0" spc="-22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Recall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00724" y="1199183"/>
            <a:ext cx="4047158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800" kern="0" spc="-12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Correctly flags 68% of customers who go on to book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6119" y="1426369"/>
            <a:ext cx="4047083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950" kern="0" spc="-59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32%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96119" y="1748061"/>
            <a:ext cx="4047083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kern="0" spc="-22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Precision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6119" y="1893763"/>
            <a:ext cx="4047083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800" kern="0" spc="-12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flagged searches, 32% result in actual bookings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00724" y="1426369"/>
            <a:ext cx="404715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950" kern="0" spc="-59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0.78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600724" y="1748061"/>
            <a:ext cx="4047158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kern="0" spc="-22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CV ROC-AUC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0724" y="1893763"/>
            <a:ext cx="4047158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800" kern="0" spc="-12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5-fold stratified cross-validation mean (std &lt; 0.015)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6119" y="2088952"/>
            <a:ext cx="3983682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2" dirty="0">
                <a:solidFill>
                  <a:srgbClr val="FF0000"/>
                </a:solidFill>
                <a:highlight>
                  <a:srgbClr val="FFFF00"/>
                </a:highlight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Confusion Matrix</a:t>
            </a:r>
            <a:endParaRPr lang="en-US" sz="1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58839"/>
            <a:ext cx="2333625" cy="20955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656981" y="2174303"/>
            <a:ext cx="3983682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2" dirty="0">
                <a:solidFill>
                  <a:srgbClr val="FF0000"/>
                </a:solidFill>
                <a:highlight>
                  <a:srgbClr val="FFFF00"/>
                </a:highlight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ROC &amp; Precision-Recall Curves</a:t>
            </a:r>
            <a:endParaRPr lang="en-US" sz="1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962" y="2527734"/>
            <a:ext cx="3983682" cy="160950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96119" y="4457923"/>
            <a:ext cx="8151763" cy="319832"/>
          </a:xfrm>
          <a:prstGeom prst="roundRect">
            <a:avLst>
              <a:gd name="adj" fmla="val 9927"/>
            </a:avLst>
          </a:prstGeom>
          <a:solidFill>
            <a:srgbClr val="FCE2C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649" y="4523333"/>
            <a:ext cx="94431" cy="755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1611" y="4522812"/>
            <a:ext cx="7830741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b="1" kern="0" spc="-12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Design choice:</a:t>
            </a:r>
            <a:r>
              <a:rPr lang="en-US" sz="800" kern="0" spc="-12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model is deliberately tuned to favor recall over precision — better suited to broadly prioritizing likely bookers than guaranteeing any individual prediction. The classification threshold can be adjusted once a concrete downstream use case is defined.</a:t>
            </a:r>
            <a:endParaRPr lang="en-US" sz="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ACB57E-383E-82D1-3305-30649E8D3597}"/>
              </a:ext>
            </a:extLst>
          </p:cNvPr>
          <p:cNvSpPr/>
          <p:nvPr/>
        </p:nvSpPr>
        <p:spPr>
          <a:xfrm>
            <a:off x="7854215" y="4726004"/>
            <a:ext cx="1250867" cy="417496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7995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kern="0" spc="-64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What Drives Booking Completion?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76387"/>
            <a:ext cx="4233863" cy="2809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29957" y="964555"/>
            <a:ext cx="352261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32" dirty="0">
                <a:solidFill>
                  <a:srgbClr val="FF0000"/>
                </a:solidFill>
                <a:highlight>
                  <a:srgbClr val="FFFF00"/>
                </a:highlight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Feature Importance Breakdown</a:t>
            </a:r>
            <a:endParaRPr lang="en-US" sz="105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9957" y="1240854"/>
            <a:ext cx="1713830" cy="18192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09890" y="1363638"/>
            <a:ext cx="1411114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32" dirty="0">
                <a:solidFill>
                  <a:srgbClr val="D4A574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~29%</a:t>
            </a:r>
            <a:r>
              <a:rPr lang="en-US" sz="1050" kern="0" spc="-32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— Booking Origin (Country)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309890" y="1797621"/>
            <a:ext cx="1411114" cy="1139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dominant predictor, accounting for nearly </a:t>
            </a:r>
            <a:r>
              <a:rPr lang="en-US" sz="850" b="1" kern="0" spc="-17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3× the importance</a:t>
            </a:r>
            <a:r>
              <a:rPr lang="en-US" sz="85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the next-highest feature. Where a customer is booking from is the strongest signal in the model.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8739" y="1240854"/>
            <a:ext cx="1713830" cy="18192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18672" y="1363638"/>
            <a:ext cx="1411114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32" dirty="0">
                <a:solidFill>
                  <a:srgbClr val="0D7377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~27%</a:t>
            </a:r>
            <a:r>
              <a:rPr lang="en-US" sz="1050" kern="0" spc="-32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— Route &amp; Airport Popularity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7118672" y="1797621"/>
            <a:ext cx="1411114" cy="814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Combined contribution of route frequency-encoding and decomposed origin/destination airport signals.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9957" y="3155082"/>
            <a:ext cx="1713830" cy="149363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09890" y="3277865"/>
            <a:ext cx="1411114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32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Trip Logistics Over Extras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5309890" y="3711848"/>
            <a:ext cx="1411114" cy="814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b="1" kern="0" spc="-17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Length of stay</a:t>
            </a:r>
            <a:r>
              <a:rPr lang="en-US" sz="85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850" b="1" kern="0" spc="-17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purchase lead time</a:t>
            </a:r>
            <a:r>
              <a:rPr lang="en-US" sz="850" kern="0" spc="-17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outweigh specific add-ons like baggage, seat selection, and meal requests.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38739" y="3155082"/>
            <a:ext cx="1713830" cy="149363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18672" y="3277865"/>
            <a:ext cx="141111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32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&lt;0.2% — Trip Type</a:t>
            </a:r>
            <a:endParaRPr lang="en-US" sz="10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C25D136-D2C5-57C5-66C2-C55E45C37334}"/>
              </a:ext>
            </a:extLst>
          </p:cNvPr>
          <p:cNvGrpSpPr/>
          <p:nvPr/>
        </p:nvGrpSpPr>
        <p:grpSpPr>
          <a:xfrm>
            <a:off x="7118672" y="3542333"/>
            <a:ext cx="1986410" cy="1601167"/>
            <a:chOff x="7118672" y="3542333"/>
            <a:chExt cx="1986410" cy="1601167"/>
          </a:xfrm>
        </p:grpSpPr>
        <p:sp>
          <p:nvSpPr>
            <p:cNvPr id="16" name="Text 9"/>
            <p:cNvSpPr/>
            <p:nvPr/>
          </p:nvSpPr>
          <p:spPr>
            <a:xfrm>
              <a:off x="7118672" y="3542333"/>
              <a:ext cx="1411114" cy="9769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850" kern="0" spc="-17" dirty="0">
                  <a:solidFill>
                    <a:srgbClr val="2B2E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Carries almost no importance. Because </a:t>
              </a:r>
              <a:r>
                <a:rPr lang="en-US" sz="850" b="1" kern="0" spc="-17" dirty="0">
                  <a:solidFill>
                    <a:srgbClr val="2B2E3C"/>
                  </a:solidFill>
                  <a:latin typeface="Open Sans Bold" pitchFamily="34" charset="0"/>
                  <a:ea typeface="Open Sans Bold" pitchFamily="34" charset="-122"/>
                  <a:cs typeface="Open Sans Bold" pitchFamily="34" charset="-120"/>
                </a:rPr>
                <a:t>99% of bookings are round trips</a:t>
              </a:r>
              <a:r>
                <a:rPr lang="en-US" sz="850" kern="0" spc="-17" dirty="0">
                  <a:solidFill>
                    <a:srgbClr val="2B2E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, there is too little variation for the model to learn a meaningful signal.</a:t>
              </a:r>
              <a:endParaRPr lang="en-US" sz="85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5FC377C-4B54-3118-31D0-260AB18CA0FB}"/>
                </a:ext>
              </a:extLst>
            </p:cNvPr>
            <p:cNvSpPr/>
            <p:nvPr/>
          </p:nvSpPr>
          <p:spPr>
            <a:xfrm>
              <a:off x="7854215" y="4726004"/>
              <a:ext cx="1250867" cy="417496"/>
            </a:xfrm>
            <a:prstGeom prst="rect">
              <a:avLst/>
            </a:prstGeom>
            <a:solidFill>
              <a:srgbClr val="FFF8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5653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0" spc="-72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Executive Summary &amp; Recommendations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8236" y="907405"/>
            <a:ext cx="4102745" cy="2884363"/>
          </a:xfrm>
          <a:prstGeom prst="roundRect">
            <a:avLst>
              <a:gd name="adj" fmla="val 3048"/>
            </a:avLst>
          </a:prstGeom>
          <a:solidFill>
            <a:srgbClr val="1A3A52"/>
          </a:solidFill>
          <a:ln/>
        </p:spPr>
      </p:sp>
      <p:sp>
        <p:nvSpPr>
          <p:cNvPr id="4" name="Text 2"/>
          <p:cNvSpPr/>
          <p:nvPr/>
        </p:nvSpPr>
        <p:spPr>
          <a:xfrm>
            <a:off x="530275" y="1027584"/>
            <a:ext cx="385866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6" dirty="0">
                <a:solidFill>
                  <a:srgbClr val="FF0000"/>
                </a:solidFill>
                <a:highlight>
                  <a:srgbClr val="FFFF00"/>
                </a:highlight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 Performance</a:t>
            </a:r>
            <a:endParaRPr 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" name="Text 3"/>
          <p:cNvSpPr/>
          <p:nvPr/>
        </p:nvSpPr>
        <p:spPr>
          <a:xfrm>
            <a:off x="530275" y="1338486"/>
            <a:ext cx="3858667" cy="969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kern="0" spc="-19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ROC-AUC 0.79</a:t>
            </a:r>
            <a:r>
              <a:rPr lang="en-US" sz="950" kern="0" spc="-19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 10,000 unseen searches. The model correctly flags </a:t>
            </a:r>
            <a:r>
              <a:rPr lang="en-US" sz="950" b="1" kern="0" spc="-19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68% of customers who go on to book</a:t>
            </a:r>
            <a:r>
              <a:rPr lang="en-US" sz="950" kern="0" spc="-19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well above the 15% baseline conversion rate. Cross-validation scores (ROC-AUC 0.78, recall 0.65, avg. precision 0.37) are consistent across folds with standard deviation under 0.015, confirming the model generalizes reliably.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275" y="2427908"/>
            <a:ext cx="385866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6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Top Driver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275" y="2738810"/>
            <a:ext cx="3858667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kern="0" spc="-19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country a customer is booking from accounts for </a:t>
            </a:r>
            <a:r>
              <a:rPr lang="en-US" sz="950" b="1" kern="0" spc="-19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~29% of total model importance</a:t>
            </a:r>
            <a:r>
              <a:rPr lang="en-US" sz="950" kern="0" spc="-19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by a wide margin the single most predictive feature in the dataset.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5665" y="1027584"/>
            <a:ext cx="3926979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6" dirty="0">
                <a:solidFill>
                  <a:srgbClr val="FF0000"/>
                </a:solidFill>
                <a:highlight>
                  <a:srgbClr val="FFFF00"/>
                </a:highlight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Recommended Actions</a:t>
            </a:r>
            <a:endParaRPr lang="en-US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9" name="Shape 7"/>
          <p:cNvSpPr/>
          <p:nvPr/>
        </p:nvSpPr>
        <p:spPr>
          <a:xfrm>
            <a:off x="4725665" y="1353517"/>
            <a:ext cx="274737" cy="274737"/>
          </a:xfrm>
          <a:prstGeom prst="roundRect">
            <a:avLst>
              <a:gd name="adj" fmla="val 1866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1467" y="1376437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kern="0" spc="-43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580" y="1395487"/>
            <a:ext cx="3532063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Prioritize High-Propensity Searches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580" y="1706389"/>
            <a:ext cx="3532063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kern="0" spc="-19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model scores to rank searches by booking likelihood — by market and route — and direct targeted follow-up or promotional offers to the highest-scoring segments first.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25665" y="2528292"/>
            <a:ext cx="274737" cy="274737"/>
          </a:xfrm>
          <a:prstGeom prst="roundRect">
            <a:avLst>
              <a:gd name="adj" fmla="val 1866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1467" y="2551212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kern="0" spc="-43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580" y="2570262"/>
            <a:ext cx="3532063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Investigate the Australia Gap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580" y="2881164"/>
            <a:ext cx="3532063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kern="0" spc="-19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Australia is the </a:t>
            </a:r>
            <a:r>
              <a:rPr lang="en-US" sz="950" b="1" kern="0" spc="-19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largest single source of searches at 36% of all data</a:t>
            </a:r>
            <a:r>
              <a:rPr lang="en-US" sz="950" kern="0" spc="-19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yet converts at just </a:t>
            </a:r>
            <a:r>
              <a:rPr lang="en-US" sz="950" b="1" kern="0" spc="-19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5%</a:t>
            </a:r>
            <a:r>
              <a:rPr lang="en-US" sz="950" kern="0" spc="-19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compared to </a:t>
            </a:r>
            <a:r>
              <a:rPr lang="en-US" sz="950" b="1" kern="0" spc="-19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34% in Malaysia</a:t>
            </a:r>
            <a:r>
              <a:rPr lang="en-US" sz="950" kern="0" spc="-19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Understanding this gap is the highest-leverage business question surfaced by the model.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6119" y="3926979"/>
            <a:ext cx="8151763" cy="870868"/>
          </a:xfrm>
          <a:prstGeom prst="roundRect">
            <a:avLst>
              <a:gd name="adj" fmla="val 5889"/>
            </a:avLst>
          </a:prstGeom>
          <a:solidFill>
            <a:srgbClr val="FCE2CF"/>
          </a:solidFill>
          <a:ln/>
        </p:spPr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A671F9C-68C1-FCDF-86D9-3F9E49CA4D8D}"/>
              </a:ext>
            </a:extLst>
          </p:cNvPr>
          <p:cNvGrpSpPr/>
          <p:nvPr/>
        </p:nvGrpSpPr>
        <p:grpSpPr>
          <a:xfrm>
            <a:off x="892820" y="4077667"/>
            <a:ext cx="8190870" cy="990600"/>
            <a:chOff x="892820" y="4077667"/>
            <a:chExt cx="8190870" cy="9906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5BFAE30-48D2-6973-71B4-8FB36181D3B8}"/>
                </a:ext>
              </a:extLst>
            </p:cNvPr>
            <p:cNvSpPr/>
            <p:nvPr/>
          </p:nvSpPr>
          <p:spPr>
            <a:xfrm>
              <a:off x="7832823" y="4650771"/>
              <a:ext cx="1250867" cy="417496"/>
            </a:xfrm>
            <a:prstGeom prst="rect">
              <a:avLst/>
            </a:prstGeom>
            <a:solidFill>
              <a:srgbClr val="FFF8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 16"/>
            <p:cNvSpPr/>
            <p:nvPr/>
          </p:nvSpPr>
          <p:spPr>
            <a:xfrm>
              <a:off x="892820" y="4077667"/>
              <a:ext cx="7633022" cy="5815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2000"/>
                </a:lnSpc>
                <a:buNone/>
              </a:pPr>
              <a:r>
                <a:rPr lang="en-US" sz="950" b="1" kern="0" spc="-19" dirty="0">
                  <a:solidFill>
                    <a:srgbClr val="000000"/>
                  </a:solidFill>
                  <a:latin typeface="Open Sans Bold" pitchFamily="34" charset="0"/>
                  <a:ea typeface="Open Sans Bold" pitchFamily="34" charset="-122"/>
                  <a:cs typeface="Open Sans Bold" pitchFamily="34" charset="-120"/>
                </a:rPr>
                <a:t>Caveat on threshold tuning:</a:t>
              </a:r>
              <a:r>
                <a:rPr lang="en-US" sz="950" kern="0" spc="-19" dirty="0">
                  <a:solidFill>
                    <a:srgbClr val="000000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 The model currently favors recall over precision. The classification decision threshold should be revisited once a concrete downstream use case (e.g. email campaign, seat hold, dynamic pricing) is defined — the optimal trade-off depends entirely on the cost of a false positive versus a missed booker in that context.</a:t>
              </a:r>
              <a:endParaRPr lang="en-US" sz="950" dirty="0"/>
            </a:p>
          </p:txBody>
        </p:sp>
      </p:grp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58" y="4099471"/>
            <a:ext cx="152623" cy="1220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1132</Words>
  <Application>Microsoft Office PowerPoint</Application>
  <PresentationFormat>On-screen Show (16:9)</PresentationFormat>
  <Paragraphs>108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Bitter Medium</vt:lpstr>
      <vt:lpstr>Open Sans Bold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Mark Mayana</cp:lastModifiedBy>
  <cp:revision>2</cp:revision>
  <dcterms:created xsi:type="dcterms:W3CDTF">2026-08-17T11:51:48Z</dcterms:created>
  <dcterms:modified xsi:type="dcterms:W3CDTF">2026-08-17T12:06:14Z</dcterms:modified>
</cp:coreProperties>
</file>